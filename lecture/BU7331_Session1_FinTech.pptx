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6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5303520"/>
            <a:ext cx="457200" cy="457200"/>
          </a:xfrm>
          <a:prstGeom prst="ellipse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418"/>
                </a:solidFill>
                <a:latin typeface="Calibri"/>
              </a:rPr>
              <a:t>BU7331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229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FinTech in Banking,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Insurance &amp; Asset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Trinity Business School  |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Prof. Michael Dowling, Dublin City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69080"/>
            <a:ext cx="22860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INTRODUCTION TO FINTECH &amp;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5486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777240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Professor of Financial Technology,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DCU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50+ international research publications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(Financial Times, etc.)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Founded Narrative Banking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an AI financial coaching startup embedded in banks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Previously built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PoliClear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first GenAI platform used by Irish government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Techstars Future of Finance alumnus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Amsterdam,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F695F-2686-CDED-F35A-738DF3D6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68F2D-E308-8AE8-0FB8-A02E53CB4116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16101-2F5A-8D34-7766-A62988FED8FE}"/>
              </a:ext>
            </a:extLst>
          </p:cNvPr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INTRODUCTION TO FINTECH &amp; IDEATION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BF862-5060-713E-8ABA-29D8979F00A5}"/>
              </a:ext>
            </a:extLst>
          </p:cNvPr>
          <p:cNvSpPr txBox="1"/>
          <p:nvPr/>
        </p:nvSpPr>
        <p:spPr>
          <a:xfrm>
            <a:off x="640080" y="731520"/>
            <a:ext cx="5486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About </a:t>
            </a:r>
            <a:r>
              <a:rPr lang="en-IE" sz="3200" b="1" dirty="0">
                <a:solidFill>
                  <a:srgbClr val="FFFFFF"/>
                </a:solidFill>
                <a:latin typeface="Calibri"/>
              </a:rPr>
              <a:t>These Slides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2C8DD-8785-83C8-6D94-77EB9C0FA433}"/>
              </a:ext>
            </a:extLst>
          </p:cNvPr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B9A04-5082-EBFC-86FD-7276E0F507D5}"/>
              </a:ext>
            </a:extLst>
          </p:cNvPr>
          <p:cNvSpPr txBox="1"/>
          <p:nvPr/>
        </p:nvSpPr>
        <p:spPr>
          <a:xfrm>
            <a:off x="640080" y="2594610"/>
            <a:ext cx="7772400" cy="234315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lang="en-IE" sz="1600" b="0" i="0" dirty="0">
                <a:solidFill>
                  <a:srgbClr val="FFFFFF"/>
                </a:solidFill>
                <a:latin typeface="Calibri"/>
              </a:rPr>
              <a:t>Just to give a full disclaimer: I use </a:t>
            </a:r>
            <a:r>
              <a:rPr lang="en-IE" sz="1600" b="0" i="0" dirty="0" err="1">
                <a:solidFill>
                  <a:srgbClr val="FFFFFF"/>
                </a:solidFill>
                <a:latin typeface="Calibri"/>
              </a:rPr>
              <a:t>OpenClaw</a:t>
            </a:r>
            <a:r>
              <a:rPr lang="en-IE" sz="1600" b="0" i="0" dirty="0">
                <a:solidFill>
                  <a:srgbClr val="FFFFFF"/>
                </a:solidFill>
                <a:latin typeface="Calibri"/>
              </a:rPr>
              <a:t> to organise my thoughts and information and </a:t>
            </a:r>
            <a:r>
              <a:rPr lang="en-IE" sz="1600" b="0" i="0" dirty="0" err="1">
                <a:solidFill>
                  <a:srgbClr val="FFFFFF"/>
                </a:solidFill>
                <a:latin typeface="Calibri"/>
              </a:rPr>
              <a:t>Manus.im</a:t>
            </a:r>
            <a:r>
              <a:rPr lang="en-IE" sz="1600" b="0" i="0" dirty="0">
                <a:solidFill>
                  <a:srgbClr val="FFFFFF"/>
                </a:solidFill>
                <a:latin typeface="Calibri"/>
              </a:rPr>
              <a:t> to design the slides. I write everythin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g first, get AI to edit and design, and then I edit. 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lang="en-IE" sz="1600" b="0" i="0" dirty="0">
                <a:solidFill>
                  <a:srgbClr val="FFFFFF"/>
                </a:solidFill>
                <a:latin typeface="Calibri"/>
              </a:rPr>
              <a:t>The reason: My slide designing skill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s suck. 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C0C11-5009-3D4B-13C7-CFA72523BD1B}"/>
              </a:ext>
            </a:extLst>
          </p:cNvPr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9240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INTRODUCTION TO FINTECH &amp;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5418"/>
                </a:solidFill>
                <a:latin typeface="Calibri"/>
              </a:rPr>
              <a:t>Six sessions. One product. Your product.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105156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Will...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FinTech Landscape &amp; Ideation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Find your problem worth solving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Wireframing &amp; UX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Design what your product looks like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ML &amp; GenAI Models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Build the intelligence behind it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Customer Research &amp; Regulation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Prove people want it (and it's legal)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Iteration &amp; Polish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Make it good enough to ship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Pitch Day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Convince the room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5418"/>
                </a:solidFill>
                <a:latin typeface="Calibri"/>
              </a:rPr>
              <a:t>Assessment: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Group project presentation (40%) + Individual reflection (60%)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2011680" cy="4572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ACTIVITY  •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Form Your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Form groups of </a:t>
            </a:r>
            <a:r>
              <a:rPr lang="en-IE" sz="2000" b="0" dirty="0">
                <a:solidFill>
                  <a:srgbClr val="FFFFFF"/>
                </a:solidFill>
                <a:latin typeface="Calibri"/>
              </a:rPr>
              <a:t>6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You'll work with this team for the entire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91440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Mix backgrounds if possible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At least one person comfortable with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technolog</a:t>
            </a:r>
            <a:r>
              <a:rPr lang="en-IE" sz="1800" b="0" i="0" dirty="0">
                <a:solidFill>
                  <a:srgbClr val="FFFFFF"/>
                </a:solidFill>
                <a:latin typeface="Calibri"/>
              </a:rPr>
              <a:t>y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lang="en-IE" dirty="0">
                <a:solidFill>
                  <a:srgbClr val="FFFFFF"/>
                </a:solidFill>
                <a:latin typeface="Calibri"/>
              </a:rPr>
              <a:t>Email me the groups at </a:t>
            </a:r>
            <a:r>
              <a:rPr lang="en-IE" dirty="0" err="1">
                <a:solidFill>
                  <a:srgbClr val="FFFFFF"/>
                </a:solidFill>
                <a:latin typeface="Calibri"/>
              </a:rPr>
              <a:t>Michael.Dowling@dcu.ie</a:t>
            </a:r>
            <a:endParaRPr sz="18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54864" cy="32004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1" dirty="0">
                <a:solidFill>
                  <a:srgbClr val="FFFFFF"/>
                </a:solidFill>
                <a:latin typeface="Calibri"/>
              </a:rPr>
              <a:t>"The best fintech products solve real problems for real people. If you can't explain who has the problem and why it hurts, you don't have a product </a:t>
            </a:r>
            <a:r>
              <a:rPr lang="en-IE" sz="2400" b="0" i="1" dirty="0">
                <a:solidFill>
                  <a:srgbClr val="FFFFFF"/>
                </a:solidFill>
                <a:latin typeface="Calibri"/>
              </a:rPr>
              <a:t>-</a:t>
            </a:r>
            <a:r>
              <a:rPr sz="2400" b="0" i="1" dirty="0">
                <a:solidFill>
                  <a:srgbClr val="FFFFFF"/>
                </a:solidFill>
                <a:latin typeface="Calibri"/>
              </a:rPr>
              <a:t> you have a feature looking for a home."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ONLY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Is FinTech, Really?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8FA3"/>
                </a:solidFill>
                <a:latin typeface="Calibri"/>
              </a:rPr>
              <a:t>Not just "finance + technology." FinTech is the application of technology to make financial services faster, cheaper, more accessible, or entirely new.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3200400" cy="3474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200400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5418"/>
                </a:solidFill>
                <a:latin typeface="Calibri"/>
              </a:rPr>
              <a:t>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A3"/>
                </a:solidFill>
                <a:latin typeface="Calibri"/>
              </a:rPr>
              <a:t>2008–2015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Post-crisis trust deficit. Mobile-first banks, P2P lending, crypto.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2834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5418"/>
                </a:solidFill>
                <a:latin typeface="Calibri"/>
              </a:rPr>
              <a:t>"Can we replace the bank?"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560320"/>
            <a:ext cx="3200400" cy="3474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2560320"/>
            <a:ext cx="3200400" cy="54864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274320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300B0"/>
                </a:solidFill>
                <a:latin typeface="Calibri"/>
              </a:rPr>
              <a:t>Wave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175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47472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A3"/>
                </a:solidFill>
                <a:latin typeface="Calibri"/>
              </a:rPr>
              <a:t>2016–2023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404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ML for credit scoring, fraud detection, robo-advice.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212080"/>
            <a:ext cx="2834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300B0"/>
                </a:solidFill>
                <a:latin typeface="Calibri"/>
              </a:rPr>
              <a:t>"Can we make better decisions?"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560320"/>
            <a:ext cx="3200400" cy="3474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80960" y="2560320"/>
            <a:ext cx="3200400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274320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5418"/>
                </a:solidFill>
                <a:latin typeface="Calibri"/>
              </a:rPr>
              <a:t>Wave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0175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Autonomy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47472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A3"/>
                </a:solidFill>
                <a:latin typeface="Calibri"/>
              </a:rPr>
              <a:t>2024+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8404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Agentic AI, embedded finance, autonomous financial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212080"/>
            <a:ext cx="2834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5418"/>
                </a:solidFill>
                <a:latin typeface="Calibri"/>
              </a:rPr>
              <a:t>"Can the system act for you?"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418"/>
                </a:solidFill>
                <a:latin typeface="Calibri"/>
              </a:rPr>
              <a:t>We're living through Wave 3 right now.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Live Demo — Wealthfront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8FA3"/>
                </a:solidFill>
                <a:latin typeface="Calibri"/>
              </a:rPr>
              <a:t>A Wave 2 product evolving into Wave 3.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LIVE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5418"/>
                </a:solidFill>
                <a:latin typeface="Calibri"/>
              </a:rPr>
              <a:t>wealthfront.com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Questions to consider: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9144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What's the core value proposition? (Hint: it's not "investing")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Who is the target user?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What technology makes this possible that didn't exist 10 years ago?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Payments &amp; Banking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The biggest category. The one that affects every person in this room.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51560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They Did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Revolut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Mobile-first bank, multi-currency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40M+ users. Proved banks don't need branches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Stripe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Developer-first payments API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Powers 70%+ of internet commerce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Wise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Transparent FX transfers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Exposed hidden bank FX margins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Starling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UK digital bank with marketplace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559"/>
                          </a:solidFill>
                          <a:latin typeface="Calibri"/>
                        </a:rPr>
                        <a:t>Profitable digital bank (rare!)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46320"/>
            <a:ext cx="10515600" cy="91440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98755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5418"/>
                </a:solidFill>
                <a:latin typeface="Calibri"/>
              </a:rPr>
              <a:t>The lesson: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Payments is the gateway drug. Once you own the payment, you own the customer relationship.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DISCUSSION  •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601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 i="1" dirty="0">
                <a:solidFill>
                  <a:srgbClr val="FFFFFF"/>
                </a:solidFill>
                <a:latin typeface="Calibri"/>
              </a:rPr>
              <a:t>"</a:t>
            </a:r>
            <a:r>
              <a:rPr lang="en-IE" sz="2800" b="0" i="1" dirty="0">
                <a:solidFill>
                  <a:srgbClr val="FFFFFF"/>
                </a:solidFill>
                <a:latin typeface="Calibri"/>
              </a:rPr>
              <a:t>What is the ideal future of banking? The perfect, glorious future of banking?” </a:t>
            </a:r>
            <a:endParaRPr sz="2800" b="0" i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en-IE" sz="1800" b="0" dirty="0">
                <a:solidFill>
                  <a:srgbClr val="8A8FA3"/>
                </a:solidFill>
                <a:latin typeface="Calibri"/>
              </a:rPr>
              <a:t>Work with the people next to you, I’ll call on a few people</a:t>
            </a:r>
            <a:r>
              <a:rPr sz="1800" b="0" dirty="0">
                <a:solidFill>
                  <a:srgbClr val="8A8FA3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Lending &amp; Credit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8FA3"/>
                </a:solidFill>
                <a:latin typeface="Calibri"/>
              </a:rPr>
              <a:t>The economics of lending are being rewritten.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5418"/>
                </a:solidFill>
                <a:latin typeface="Calibri"/>
              </a:rPr>
              <a:t>P2P Lending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Funding Circle (UK, SMB lending </a:t>
            </a:r>
            <a:r>
              <a:rPr lang="en-IE" sz="14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now a major player)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Zopa (UK, consumer </a:t>
            </a:r>
            <a:r>
              <a:rPr lang="en-IE" sz="14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now has a full banking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licence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Mintos (EU, marketplace for loan investments)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5418"/>
                </a:solidFill>
                <a:latin typeface="Calibri"/>
              </a:rPr>
              <a:t>BNPL (Buy Now Pay Later)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Klarna, Afterpay/Block. Massive growth, massive regulatory scrutiny.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5418"/>
                </a:solidFill>
                <a:latin typeface="Calibri"/>
              </a:rPr>
              <a:t>AI Credit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Calibri"/>
              </a:rPr>
              <a:t>Moving beyond FICO scores. Using transaction data,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behavioural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signals, even how you </a:t>
            </a:r>
            <a:r>
              <a:rPr lang="en-IE" sz="1400" dirty="0">
                <a:solidFill>
                  <a:srgbClr val="FFFFFF"/>
                </a:solidFill>
                <a:latin typeface="Calibri"/>
              </a:rPr>
              <a:t>use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your 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10515600" cy="1188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987552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FF5418"/>
                </a:solidFill>
                <a:latin typeface="Calibri"/>
              </a:rPr>
              <a:t>The disruption: 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66% of SMB loan applications are rejected. What if AI could </a:t>
            </a:r>
            <a:r>
              <a:rPr lang="en-IE" sz="1500" b="0" i="0" dirty="0">
                <a:solidFill>
                  <a:srgbClr val="FFFFFF"/>
                </a:solidFill>
                <a:latin typeface="Calibri"/>
              </a:rPr>
              <a:t>improve that rate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? </a:t>
            </a:r>
            <a:endParaRPr sz="1400" b="0" i="1" dirty="0">
              <a:solidFill>
                <a:srgbClr val="8A8FA3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InsurTech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Insurance is the sleeper fintech category. Massive market, terrible customer experience.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515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Innovation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On-demand insurance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Cuvva (pay-per-hour car insurance)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Insurance that fits your life, not the other way around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Parametric insurance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Lemonade, Etherisc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Instant payouts triggered by data (weather, flight delays)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AI underwriting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Tractable (computer vision for claims)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Photo → damage assessment → payout in minutes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Embedded insurance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Cover Genius (insurance inside checkout)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You buy insurance without knowing you're buying insurance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20640"/>
            <a:ext cx="10515600" cy="82296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98755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5418"/>
                </a:solidFill>
                <a:latin typeface="Calibri"/>
              </a:rPr>
              <a:t>QUESTION: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Why has insurance been slower to disrupt than banking?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Asset Management &amp; WealthTech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43240"/>
              </p:ext>
            </p:extLst>
          </p:nvPr>
        </p:nvGraphicFramePr>
        <p:xfrm>
          <a:off x="640080" y="1645920"/>
          <a:ext cx="1051560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Innovation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Changed</a:t>
                      </a:r>
                    </a:p>
                  </a:txBody>
                  <a:tcPr marL="109728" marR="73152" marT="54864" marB="54864">
                    <a:solidFill>
                      <a:srgbClr val="1B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Robo-advisors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Wealthfront, Nutmeg, Betterment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Automated portfolio mgmt at 0.25% vs. 1–2%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Fractional investing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Trading 212, Revolut, Lightyear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Own €10 of Apple stock. Democratised access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Social trading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eToro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Copy what successful traders do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AI trading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Two Sigma, Renaissance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Hedge funds that are really tech companies</a:t>
                      </a:r>
                    </a:p>
                  </a:txBody>
                  <a:tcPr marL="109728" marR="73152" marT="54864" marB="54864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Tokenisation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559"/>
                          </a:solidFill>
                          <a:latin typeface="Calibri"/>
                        </a:rPr>
                        <a:t>Securitize, RealT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B2559"/>
                          </a:solidFill>
                          <a:latin typeface="Calibri"/>
                        </a:rPr>
                        <a:t>Real estate, art, wine </a:t>
                      </a:r>
                      <a:r>
                        <a:rPr lang="en-IE" sz="1200" dirty="0">
                          <a:solidFill>
                            <a:srgbClr val="1B2559"/>
                          </a:solidFill>
                          <a:latin typeface="Calibri"/>
                        </a:rPr>
                        <a:t>-</a:t>
                      </a:r>
                      <a:r>
                        <a:rPr sz="1200" dirty="0">
                          <a:solidFill>
                            <a:srgbClr val="1B2559"/>
                          </a:solidFill>
                          <a:latin typeface="Calibri"/>
                        </a:rPr>
                        <a:t> tradeable tokens</a:t>
                      </a:r>
                    </a:p>
                  </a:txBody>
                  <a:tcPr marL="109728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846320"/>
            <a:ext cx="10515600" cy="91440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98755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5418"/>
                </a:solidFill>
                <a:latin typeface="Calibri"/>
              </a:rPr>
              <a:t>The frontier: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Agentic AI portfolio managers that rebalance your portfolio, harvest tax losses, and negotiate fees </a:t>
            </a:r>
            <a:r>
              <a:rPr lang="en-IE" sz="16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all autonomously.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Blockchain &amp; Digital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Blockchain = a shared, immutable ledger. Every transaction verified by the network, not by a bank.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5418"/>
                </a:solidFill>
                <a:latin typeface="Calibri"/>
              </a:rPr>
              <a:t>What survived the hype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30352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Stablecoins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(USDC, USDT): $150B+ market. Real utility for cross-border payments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DeFi: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Lending, borrowing, trading without intermediaries. ~$50B TVL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CBDCs: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ECB digital euro pilot underway. China's e-CNY live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Tokenisation of real-world assets: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BlackRock's BUIDL fund. Larry Fink says "every asset will be tokenised"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8FA3"/>
                </a:solidFill>
                <a:latin typeface="Calibri"/>
              </a:rPr>
              <a:t>What hasn't worked (yet)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>
                <a:solidFill>
                  <a:srgbClr val="8A8FA3"/>
                </a:solidFill>
                <a:latin typeface="Calibri"/>
              </a:rPr>
              <a:t>Crypto as everyday payments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>
                <a:solidFill>
                  <a:srgbClr val="8A8FA3"/>
                </a:solidFill>
                <a:latin typeface="Calibri"/>
              </a:rPr>
              <a:t>NFTs as anything useful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>
                <a:solidFill>
                  <a:srgbClr val="8A8FA3"/>
                </a:solidFill>
                <a:latin typeface="Calibri"/>
              </a:rPr>
              <a:t>Most DAOs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ACTIVITY  • 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FinTech Treasure Hunt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9601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>
                <a:solidFill>
                  <a:srgbClr val="FFFFFF"/>
                </a:solidFill>
                <a:latin typeface="Calibri"/>
              </a:rPr>
              <a:t>In your </a:t>
            </a:r>
            <a:r>
              <a:rPr lang="en-IE" sz="1700" dirty="0">
                <a:solidFill>
                  <a:srgbClr val="FFFFFF"/>
                </a:solidFill>
                <a:latin typeface="Calibri"/>
              </a:rPr>
              <a:t>groups (ideally!) p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ick ONE of the 5 categories. Find a company founded in the last 2 years that's doing something interesting. You have 10 minutes to research.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5418"/>
                </a:solidFill>
                <a:latin typeface="Calibri"/>
              </a:rPr>
              <a:t>Then </a:t>
            </a:r>
            <a:r>
              <a:rPr lang="en-IE" sz="1700" b="1" dirty="0">
                <a:solidFill>
                  <a:srgbClr val="FF5418"/>
                </a:solidFill>
                <a:latin typeface="Calibri"/>
              </a:rPr>
              <a:t>prepare</a:t>
            </a:r>
            <a:r>
              <a:rPr sz="1700" b="1" dirty="0">
                <a:solidFill>
                  <a:srgbClr val="FF5418"/>
                </a:solidFill>
                <a:latin typeface="Calibr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9144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What do they do? (One sentence)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What problem do they solve?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What technology makes it possible?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Would you use it? Why / why not?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The GenAI Disruption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This deserves its own section because it changes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200400" cy="1188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834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5418"/>
                </a:solidFill>
                <a:latin typeface="Calibri"/>
              </a:rPr>
              <a:t>89%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of SMBs now use
GenAI chatbots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03120"/>
            <a:ext cx="3200400" cy="1188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2834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5418"/>
                </a:solidFill>
                <a:latin typeface="Calibri"/>
              </a:rP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trust AI-driven
financial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103120"/>
            <a:ext cx="3200400" cy="118872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2194560"/>
            <a:ext cx="2834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5418"/>
                </a:solidFill>
                <a:latin typeface="Calibri"/>
              </a:rPr>
              <a:t>28×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4320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increase in AI-led referrals
to finance websites in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What GenAI enables in finance: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00584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Personalised guidance at scale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(what used to require a human adviser)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Natural language interfaces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to complex financial data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Automated document analysis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(loan applications, regulatory filings)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Code generation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for financial models and trading strategies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Synthetic data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for testing and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943600"/>
            <a:ext cx="10515600" cy="64008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943600"/>
            <a:ext cx="98755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5418"/>
                </a:solidFill>
                <a:latin typeface="Calibri"/>
              </a:rPr>
              <a:t>The threat: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If ChatGPT becomes your customers' financial adviser, you've lost the relationship.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THE FINTECH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Makes a Great FinTech Product?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Five principles (from someone who's built one):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9784080" cy="77724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084832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Solve a pain, not a curiosity.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95728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A3"/>
                </a:solidFill>
                <a:latin typeface="Calibri"/>
              </a:rPr>
              <a:t>Your user should feel relief, not mild interest.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0088"/>
            <a:ext cx="548640" cy="54864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90088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898648"/>
            <a:ext cx="9784080" cy="77724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2971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Meet users where they 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82696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A3"/>
                </a:solidFill>
                <a:latin typeface="Calibri"/>
              </a:rPr>
              <a:t>Don't ask them to download another app. Embed in what they already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77056"/>
            <a:ext cx="548640" cy="54864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87705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785616"/>
            <a:ext cx="9784080" cy="77724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3858768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Design for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69664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A3"/>
                </a:solidFill>
                <a:latin typeface="Calibri"/>
              </a:rPr>
              <a:t>In finance, one breach of trust and you're done. Build compliance in from day 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64024"/>
            <a:ext cx="548640" cy="54864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764024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72584"/>
            <a:ext cx="9784080" cy="77724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4745736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Start with unit economics.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056632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A3"/>
                </a:solidFill>
                <a:latin typeface="Calibri"/>
              </a:rPr>
              <a:t>If you can't explain how you make money per user, you don't have a business.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50992"/>
            <a:ext cx="548640" cy="54864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50992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559552"/>
            <a:ext cx="9784080" cy="77724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54480" y="5632704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Regulation is a moat, not a wall.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A3"/>
                </a:solidFill>
                <a:latin typeface="Calibri"/>
              </a:rPr>
              <a:t>Competitors who can't navigate regulation can't compete with you.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73152" cy="2286000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300B0"/>
                </a:solidFill>
                <a:latin typeface="Calibri"/>
              </a:rPr>
              <a:t>BLOCK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Ideation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5418"/>
                </a:solidFill>
                <a:latin typeface="Calibri"/>
              </a:rPr>
              <a:t>"An imperfect approach to an artform"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The Double Diamond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468880" cy="228600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468880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541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8A8FA3"/>
                </a:solidFill>
                <a:latin typeface="Calibri"/>
              </a:rPr>
              <a:t>Diverge </a:t>
            </a:r>
            <a:r>
              <a:rPr lang="en-IE" sz="1400" b="0" dirty="0">
                <a:solidFill>
                  <a:srgbClr val="8A8FA3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8A8FA3"/>
                </a:solidFill>
                <a:latin typeface="Calibri"/>
              </a:rPr>
              <a:t> explore the problem 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011680"/>
            <a:ext cx="2468880" cy="228600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2011680"/>
            <a:ext cx="2468880" cy="54864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00B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603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0040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8A8FA3"/>
                </a:solidFill>
                <a:latin typeface="Calibri"/>
              </a:rPr>
              <a:t>Converge </a:t>
            </a:r>
            <a:r>
              <a:rPr lang="en-IE" sz="1400" dirty="0">
                <a:solidFill>
                  <a:srgbClr val="8A8FA3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8A8FA3"/>
                </a:solidFill>
                <a:latin typeface="Calibri"/>
              </a:rPr>
              <a:t> pinpoint the real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11680"/>
            <a:ext cx="2468880" cy="228600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2011680"/>
            <a:ext cx="2468880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1945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541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8A8FA3"/>
                </a:solidFill>
                <a:latin typeface="Calibri"/>
              </a:rPr>
              <a:t>Diverge </a:t>
            </a:r>
            <a:r>
              <a:rPr lang="en-IE" sz="1400" b="0" dirty="0">
                <a:solidFill>
                  <a:srgbClr val="8A8FA3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8A8FA3"/>
                </a:solidFill>
                <a:latin typeface="Calibri"/>
              </a:rPr>
              <a:t> generate possible solutions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2011680"/>
            <a:ext cx="2468880" cy="228600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2011680"/>
            <a:ext cx="2468880" cy="54864"/>
          </a:xfrm>
          <a:prstGeom prst="rect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21945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00B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5603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20040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8A8FA3"/>
                </a:solidFill>
                <a:latin typeface="Calibri"/>
              </a:rPr>
              <a:t>Converge </a:t>
            </a:r>
            <a:r>
              <a:rPr lang="en-IE" sz="1400" b="0" dirty="0">
                <a:solidFill>
                  <a:srgbClr val="8A8FA3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8A8FA3"/>
                </a:solidFill>
                <a:latin typeface="Calibri"/>
              </a:rPr>
              <a:t> build and test the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6100" y="301752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8FA3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83580" y="301752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8FA3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60" y="301752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8FA3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80560"/>
            <a:ext cx="2468880" cy="4572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24688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WE ARE 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Your job today is to find problems, not solutions.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Where FinTech Problems Hide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Look for friction, frustration, and absurdity in financial services: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"Why does it take 3 days to transfer money in 2026?"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"Why can't I see all my finances in one place?"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"Why does getting a mortgage feel like applying for security clearance?"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"Why does my bank know nothing about my business even though they see every transaction?"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"Why is insurance so hard to understand?"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Three sources of problems: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0584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Your own experience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what annoys YOU about financial services?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Underserved populations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who can't access financial services at all?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Industry inefficiencies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what takes 10 steps that should take 1?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ACTIVITY  • 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Problem 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9601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Each person: write down 5 financial frustrations</a:t>
            </a:r>
            <a:r>
              <a:rPr lang="en-IE" sz="1800" b="0" dirty="0">
                <a:solidFill>
                  <a:srgbClr val="FFFFFF"/>
                </a:solidFill>
                <a:latin typeface="Calibri"/>
              </a:rPr>
              <a:t> you personally face or know that people face. 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Be specific.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4572000" cy="914400"/>
          </a:xfrm>
          <a:prstGeom prst="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206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666"/>
                </a:solidFill>
                <a:latin typeface="Calibri"/>
              </a:rPr>
              <a:t>BAD: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"Banking is annoying"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3291840"/>
            <a:ext cx="5486400" cy="914400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333756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6FF66"/>
                </a:solidFill>
                <a:latin typeface="Calibri"/>
              </a:rPr>
              <a:t>GOOD: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"I can't easily compare my spending this month vs. last month across all my accounts"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480560"/>
            <a:ext cx="5486400" cy="914400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452628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66FF66"/>
                </a:solidFill>
                <a:latin typeface="Calibri"/>
              </a:rPr>
              <a:t>GOOD: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"My small business </a:t>
            </a:r>
            <a:r>
              <a:rPr lang="en-IE" sz="1300" b="0" i="1" dirty="0">
                <a:solidFill>
                  <a:srgbClr val="FFFFFF"/>
                </a:solidFill>
                <a:latin typeface="Calibri"/>
              </a:rPr>
              <a:t>(hypothetical – I know you don’t run small businesses, on average) 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can't get a loan because banks only look at credit scores, not my actual cash flow"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5418"/>
                </a:solidFill>
                <a:latin typeface="Calibri"/>
              </a:rPr>
              <a:t>5 minutes individual → Share with your group → Look for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How Might We...?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A3"/>
                </a:solidFill>
                <a:latin typeface="Calibri"/>
              </a:rPr>
              <a:t>Reframe problems as opportunities using "How Might We" (HMW) statements.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515600" cy="64008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058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5418"/>
                </a:solidFill>
                <a:latin typeface="Calibri"/>
              </a:rPr>
              <a:t>Problem: </a:t>
            </a:r>
            <a:r>
              <a:rPr sz="1500" b="0" i="1">
                <a:solidFill>
                  <a:srgbClr val="FFFFFF"/>
                </a:solidFill>
                <a:latin typeface="Calibri"/>
              </a:rPr>
              <a:t>"Small businesses get rejected for loans because of incomplete applications"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5418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HMW help small businesses prepare better loan applications?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5418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HMW help lenders identify which rejected applicants are actually viable?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5418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HMW remove the loan application entirely and just offer credit when the data says it's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Rules: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9144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Go for volume (aim for 10+ HMWs per group)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Don't narrow to solutions yet</a:t>
            </a:r>
          </a:p>
          <a:p>
            <a:pPr marL="320040" indent="-228600"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Each HMW should open up possibilities, not close them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ACTIVITY  • 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HMW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960120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Take your best problems from the Problem Storm</a:t>
            </a:r>
          </a:p>
          <a:p>
            <a:pPr marL="320040" indent="-228600" algn="l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Convert each to a "How Might We" statement</a:t>
            </a:r>
          </a:p>
          <a:p>
            <a:pPr marL="320040" indent="-228600" algn="l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Write each HMW on a separate note</a:t>
            </a:r>
          </a:p>
          <a:p>
            <a:pPr marL="320040" indent="-228600" algn="l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Group your HMWs into themes </a:t>
            </a:r>
            <a:r>
              <a:rPr lang="en-IE" sz="18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what clusters emerge?</a:t>
            </a:r>
          </a:p>
          <a:p>
            <a:pPr marL="320040" indent="-228600" algn="l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Vote: </a:t>
            </a:r>
            <a:r>
              <a:rPr lang="en-IE" sz="1800" b="0" i="0" dirty="0">
                <a:solidFill>
                  <a:srgbClr val="FFFFFF"/>
                </a:solidFill>
                <a:latin typeface="Calibri"/>
              </a:rPr>
              <a:t>Give votes (three per person) </a:t>
            </a:r>
            <a:r>
              <a:rPr lang="en-IE" dirty="0">
                <a:solidFill>
                  <a:srgbClr val="FFFFFF"/>
                </a:solidFill>
                <a:latin typeface="Calibri"/>
              </a:rPr>
              <a:t>with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the HMWs you find most exciting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From HMW to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Your top-voted HMW is your starting point for the group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5418"/>
                </a:solidFill>
                <a:latin typeface="Calibri"/>
              </a:rPr>
              <a:t>Before next session, your group should: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926080"/>
            <a:ext cx="9144000" cy="64008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926080"/>
            <a:ext cx="8686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Agree on ONE HMW to pursue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749040"/>
            <a:ext cx="9144000" cy="64008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749040"/>
            <a:ext cx="8686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Write a one-paragraph problem statement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572000"/>
            <a:ext cx="9144000" cy="64008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4572000"/>
            <a:ext cx="8686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Identify 3 potential users who have this problem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5394960"/>
            <a:ext cx="9144000" cy="640080"/>
          </a:xfrm>
          <a:prstGeom prst="rect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5394960"/>
            <a:ext cx="8686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Come ready to start wireframing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5418"/>
                </a:solidFill>
                <a:latin typeface="Calibri"/>
              </a:rPr>
              <a:t>SESSION 1  | 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Wrap-Up &amp; Next Week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45720"/>
          </a:xfrm>
          <a:prstGeom prst="rect">
            <a:avLst/>
          </a:prstGeom>
          <a:solidFill>
            <a:srgbClr val="FF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5418"/>
                </a:solidFill>
                <a:latin typeface="Calibri"/>
              </a:rPr>
              <a:t>Today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Mapped the FinTech landscape, found problems worth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 dirty="0">
                <a:solidFill>
                  <a:srgbClr val="FF0000"/>
                </a:solidFill>
                <a:latin typeface="Calibri"/>
              </a:rPr>
              <a:t>Next Week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We turn your problem into a product. Bring laptops.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418"/>
                </a:solidFill>
                <a:latin typeface="Calibri"/>
              </a:rPr>
              <a:t>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20040" indent="-228600" algn="l"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Finalise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your group's HMW and problem statement</a:t>
            </a:r>
          </a:p>
          <a:p>
            <a:pPr marL="320040" indent="-228600" algn="l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-IE" sz="1600" b="0" i="0" dirty="0">
                <a:solidFill>
                  <a:srgbClr val="FFFFFF"/>
                </a:solidFill>
                <a:latin typeface="Calibri"/>
              </a:rPr>
              <a:t>Look up some videos on produc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t design – maybe on Figma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  <a:p>
            <a:pPr marL="320040" indent="-228600" algn="l"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Read: "The Mom Test" by Rob Fitzpatrick (Chapter 1 only </a:t>
            </a:r>
            <a:r>
              <a:rPr lang="en-IE" sz="1600" dirty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free online).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2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0" y="4572000"/>
            <a:ext cx="914400" cy="914400"/>
          </a:xfrm>
          <a:prstGeom prst="ellipse">
            <a:avLst/>
          </a:prstGeom>
          <a:solidFill>
            <a:srgbClr val="43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A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2008</Words>
  <Application>Microsoft Macintosh PowerPoint</Application>
  <PresentationFormat>Widescreen</PresentationFormat>
  <Paragraphs>318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Dowling</cp:lastModifiedBy>
  <cp:revision>2</cp:revision>
  <dcterms:created xsi:type="dcterms:W3CDTF">2013-01-27T09:14:16Z</dcterms:created>
  <dcterms:modified xsi:type="dcterms:W3CDTF">2026-03-03T21:05:39Z</dcterms:modified>
  <cp:category/>
</cp:coreProperties>
</file>